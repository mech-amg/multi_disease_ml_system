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</p:embeddedFont>
    <p:embeddedFont>
      <p:font typeface="Fira Sans" panose="020F0502020204030204" pitchFamily="34" charset="0"/>
      <p:regular r:id="rId14"/>
    </p:embeddedFont>
    <p:embeddedFont>
      <p:font typeface="Fira Sans Bold" panose="020B0604020202020204" charset="0"/>
      <p:regular r:id="rId15"/>
    </p:embeddedFont>
    <p:embeddedFont>
      <p:font typeface="Inconsolata Bold" panose="020F0502020204030204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1631"/>
    <a:srgbClr val="271038"/>
    <a:srgbClr val="2D1341"/>
    <a:srgbClr val="3C1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58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AI Safety in Mechatronics Systems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Where intelligent algorithms meet physical machines — ensuring autonomous systems operate reliably, predictably, and without harm to humans or equipment.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7755"/>
            <a:ext cx="2790854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34409"/>
            <a:ext cx="31736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+ ROBOTICS + SAFETY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20697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11697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CORE CONCEPT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AI Concept: Safe Reinforcement Learning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343" y="1311584"/>
            <a:ext cx="5351037" cy="37457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322" y="1479554"/>
            <a:ext cx="5656040" cy="115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Safe Reinforcement Learning (Safe RL) trains autonomous agents to maximize performance while satisfying strict safety constraints — preventing dangerous actions during both training and deployment.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2" y="2432219"/>
            <a:ext cx="6030642" cy="8456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8127" y="2539997"/>
            <a:ext cx="5889682" cy="28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Constrained MDP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8126" y="2854737"/>
            <a:ext cx="5744817" cy="42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Extends Markov Decision Processes with safety cost functions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001" y="3644498"/>
            <a:ext cx="6030642" cy="8456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8127" y="3852093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</a:rPr>
              <a:t>Shielding</a:t>
            </a:r>
          </a:p>
        </p:txBody>
      </p:sp>
      <p:sp>
        <p:nvSpPr>
          <p:cNvPr id="12" name="Text 7"/>
          <p:cNvSpPr/>
          <p:nvPr/>
        </p:nvSpPr>
        <p:spPr>
          <a:xfrm>
            <a:off x="718127" y="4150622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</a:rPr>
              <a:t>Runtime monitors that override unsafe AI decisions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001" y="4957792"/>
            <a:ext cx="5999390" cy="8413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8127" y="5098358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</a:rPr>
              <a:t>Verification</a:t>
            </a:r>
          </a:p>
        </p:txBody>
      </p:sp>
      <p:sp>
        <p:nvSpPr>
          <p:cNvPr id="15" name="Text 9"/>
          <p:cNvSpPr/>
          <p:nvPr/>
        </p:nvSpPr>
        <p:spPr>
          <a:xfrm>
            <a:off x="718127" y="5478133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</a:rPr>
              <a:t>Formal guarantees on policy behavior before deployment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3DBF5BDE-0066-22E7-245C-F9138484CC4C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18109"/>
            <a:ext cx="151533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74763"/>
            <a:ext cx="18981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PERCEPTION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80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&amp; Sensors Feeding the AI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549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Safe AI decisions depend on rich, real-time sensory input from the physical environment.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70014"/>
            <a:ext cx="1117572" cy="111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323854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LiDAR &amp; Radar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732536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3D spatial mapping and obstacle detection at high speed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970014"/>
            <a:ext cx="1117572" cy="111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7645" y="432385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Machine Vision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3437645" y="4732536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Cameras detect anomalies, humans, and part positioning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970014"/>
            <a:ext cx="1117572" cy="1117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3915" y="432385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Force/Torque Sensors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213915" y="4732536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Measure contact forces to prevent excessive pressure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978892"/>
            <a:ext cx="1117572" cy="1117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0184" y="432385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IMU &amp; Encoders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8990184" y="4732536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 orientation, velocity, and joint positions precisely</a:t>
            </a:r>
            <a:endParaRPr lang="en-US" sz="1450" dirty="0"/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6BFAAEE1-805D-9288-3A5A-649149FDBE36}"/>
              </a:ext>
            </a:extLst>
          </p:cNvPr>
          <p:cNvSpPr/>
          <p:nvPr/>
        </p:nvSpPr>
        <p:spPr>
          <a:xfrm>
            <a:off x="10973886" y="6397336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47307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34358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APPLICATION DOMAIN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Where AI Safety Matters in Mechatronics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l="4042" r="51589" b="49889"/>
          <a:stretch/>
        </p:blipFill>
        <p:spPr>
          <a:xfrm>
            <a:off x="172935" y="1285204"/>
            <a:ext cx="2867487" cy="32386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85719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These Domains?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8127" y="5248485"/>
            <a:ext cx="9015973" cy="46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application involves direct human-machine interaction or high-consequence physical actions — making AI safety not optional, but foundational.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8127" y="5878800"/>
            <a:ext cx="9015973" cy="702747"/>
          </a:xfrm>
          <a:prstGeom prst="roundRect">
            <a:avLst>
              <a:gd name="adj" fmla="val 3949"/>
            </a:avLst>
          </a:prstGeom>
          <a:solidFill>
            <a:srgbClr val="7B044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92" y="4956549"/>
            <a:ext cx="118067" cy="94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5961719"/>
            <a:ext cx="8947715" cy="53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 collaborative robotics, a single unsafe decision can cause injury within milliseconds. AI safety layers must operate faster than the mechanical response time.</a:t>
            </a:r>
            <a:endParaRPr lang="en-US" sz="14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ED80744E-5BF6-59F0-BEF0-9877CB3F6F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2" t="50967" r="51903" b="1061"/>
          <a:stretch/>
        </p:blipFill>
        <p:spPr>
          <a:xfrm>
            <a:off x="5971668" y="1506392"/>
            <a:ext cx="2867487" cy="3113352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EFB85C4D-477B-049F-5101-4B7BD5C8E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84" r="4747" b="49889"/>
          <a:stretch/>
        </p:blipFill>
        <p:spPr>
          <a:xfrm>
            <a:off x="3040422" y="1310741"/>
            <a:ext cx="2867487" cy="3238652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296583BE-5CF8-E01F-7FBE-6449B1FA12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98" t="50966" r="3887" b="2123"/>
          <a:stretch/>
        </p:blipFill>
        <p:spPr>
          <a:xfrm>
            <a:off x="8966673" y="1506391"/>
            <a:ext cx="2939472" cy="3043002"/>
          </a:xfrm>
          <a:prstGeom prst="rect">
            <a:avLst/>
          </a:prstGeom>
        </p:spPr>
      </p:pic>
      <p:sp>
        <p:nvSpPr>
          <p:cNvPr id="14" name="مستطيل 13">
            <a:extLst>
              <a:ext uri="{FF2B5EF4-FFF2-40B4-BE49-F238E27FC236}">
                <a16:creationId xmlns:a16="http://schemas.microsoft.com/office/drawing/2014/main" id="{9539E5D9-C9DF-B197-6A00-8CCA4E6FEF80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209"/>
            <a:ext cx="1307472" cy="210741"/>
          </a:xfrm>
          <a:prstGeom prst="roundRect">
            <a:avLst>
              <a:gd name="adj" fmla="val 7904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717" y="573782"/>
            <a:ext cx="1750572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3630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AI Safety Pipeline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379188"/>
            <a:ext cx="10779153" cy="4648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583" y="513711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406111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Decision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2995974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AI Method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191996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Input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4" y="6133206"/>
            <a:ext cx="11530525" cy="525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 stage includes safety checks — from raw sensor validation through policy verification — ensuring no unsafe command reaches </a:t>
            </a:r>
          </a:p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actuators.</a:t>
            </a:r>
            <a:endParaRPr lang="en-US" sz="1400" dirty="0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2724CE02-6FD1-8B7D-0A74-C1316889B8B8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16718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1299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CASE STUDY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UR5e Cobot with Safe RL Collision Avoidance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02" y="1770292"/>
            <a:ext cx="6132247" cy="45463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1928" y="1907735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1927" y="2241920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Universal Robots' UR5e cobot must operate safely near humans without traditional safety cages, requiring real-time collision prediction.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1928" y="3260403"/>
            <a:ext cx="3654135" cy="34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AI Solution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1928" y="3546256"/>
            <a:ext cx="3654135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Safe RL policy trained with </a:t>
            </a:r>
            <a:r>
              <a:rPr lang="en-US" sz="14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Constrained Policy Optimization (CPO)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learns to avoid humans while maintaining task efficiency. A runtime shield enforces hard velocity and force limits.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1928" y="4678146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Results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91928" y="5047455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ar-SA" dirty="0"/>
          </a:p>
        </p:txBody>
      </p:sp>
      <p:sp>
        <p:nvSpPr>
          <p:cNvPr id="12" name="Text 9"/>
          <p:cNvSpPr/>
          <p:nvPr/>
        </p:nvSpPr>
        <p:spPr>
          <a:xfrm>
            <a:off x="480836" y="520278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99.4%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03999" y="5203257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Collision-free operations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1928" y="5813006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433550"/>
          </a:solidFill>
          <a:ln/>
        </p:spPr>
      </p:sp>
      <p:sp>
        <p:nvSpPr>
          <p:cNvPr id="15" name="Text 12"/>
          <p:cNvSpPr/>
          <p:nvPr/>
        </p:nvSpPr>
        <p:spPr>
          <a:xfrm>
            <a:off x="554943" y="594747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40%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6939" y="5976470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 task completion</a:t>
            </a:r>
            <a:endParaRPr lang="en-US" sz="1400" dirty="0"/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BE498D2A-78AC-7182-8413-2C7E4AD2C8BD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966391"/>
            <a:ext cx="752456" cy="251420"/>
          </a:xfrm>
          <a:prstGeom prst="roundRect">
            <a:avLst>
              <a:gd name="adj" fmla="val 7894"/>
            </a:avLst>
          </a:prstGeom>
          <a:solidFill>
            <a:srgbClr val="4A022B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1016000"/>
            <a:ext cx="116360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BENEFITS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27565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Advantages of AI-Driven Safety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38251"/>
            <a:ext cx="248041" cy="248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4173" y="2045494"/>
            <a:ext cx="59041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Proactive Hazard Prevention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54173" y="2390775"/>
            <a:ext cx="59041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predicts unsafe states before they occur, shifting from reactive to preventive safety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205163"/>
            <a:ext cx="248041" cy="248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4173" y="3212405"/>
            <a:ext cx="59041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Real-Time Adaptation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54173" y="3557687"/>
            <a:ext cx="590416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Systems respond to dynamic environments faster than rule-based controllers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24027"/>
            <a:ext cx="248041" cy="248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4173" y="4131270"/>
            <a:ext cx="59041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Higher Productivity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054173" y="4476552"/>
            <a:ext cx="59041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Safe AI enables closer human-robot collaboration, eliminating costly safety cages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290939"/>
            <a:ext cx="248041" cy="248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4173" y="5298182"/>
            <a:ext cx="59041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054173" y="5643463"/>
            <a:ext cx="590416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Formal verification supports ISO 10218 and ISO/TS 15066 certification</a:t>
            </a:r>
            <a:endParaRPr lang="en-US" sz="1300" dirty="0"/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6F156EB7-F926-90EF-9837-70E1C389425E}"/>
              </a:ext>
            </a:extLst>
          </p:cNvPr>
          <p:cNvSpPr/>
          <p:nvPr/>
        </p:nvSpPr>
        <p:spPr>
          <a:xfrm>
            <a:off x="11052698" y="6388458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70471"/>
            <a:ext cx="119089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94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27125"/>
            <a:ext cx="15736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CRITICAL 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332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Challenges &amp; Limitations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963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Technical Barriers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013670"/>
            <a:ext cx="283461" cy="283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00424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Sim-to-Real Gap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Policies trained in simulation may fail under real-world sensor noise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996531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5723" y="398710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Computational Load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Safe RL inference must meet hard real-time deadlines (&lt;1ms)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979392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4969966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Explainability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Black-box decisions complicate safety certification and debugging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332776" y="24963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Systemic Risks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3013670"/>
            <a:ext cx="283461" cy="2834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7024" y="300424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Adversarial Inputs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Sensor spoofing can deceive AI perception modules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3996531"/>
            <a:ext cx="283461" cy="2834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7024" y="398710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Edge Cases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Rare scenarios not seen in training may trigger unsafe behavior</a:t>
            </a:r>
            <a:endParaRPr lang="en-US" sz="14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4979392"/>
            <a:ext cx="283461" cy="2834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7024" y="4969966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Liability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Legal responsibility for AI-caused incidents remains unresolved</a:t>
            </a:r>
            <a:endParaRPr lang="en-US" sz="1450" dirty="0"/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F04E1410-AB6D-65C5-AD2E-42695A46E420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768" y="92242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37270"/>
            <a:ext cx="975097" cy="278110"/>
          </a:xfrm>
          <a:prstGeom prst="roundRect">
            <a:avLst>
              <a:gd name="adj" fmla="val 7901"/>
            </a:avLst>
          </a:prstGeom>
          <a:solidFill>
            <a:srgbClr val="4A022B"/>
          </a:solidFill>
          <a:ln/>
        </p:spPr>
      </p:sp>
      <p:sp>
        <p:nvSpPr>
          <p:cNvPr id="4" name="Text 1"/>
          <p:cNvSpPr/>
          <p:nvPr/>
        </p:nvSpPr>
        <p:spPr>
          <a:xfrm>
            <a:off x="771307" y="592138"/>
            <a:ext cx="136501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886321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Conclusion: Safety Is the Foundation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61475" y="2296716"/>
            <a:ext cx="6296860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safety in mechatronics is not a feature — it is the foundation upon which all autonomous physical systems must be built. Safe RL, sensor fusion, and formal verification together enable machines that are both intelligent and trustworthy.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3649960"/>
            <a:ext cx="6296860" cy="2670770"/>
          </a:xfrm>
          <a:prstGeom prst="roundRect">
            <a:avLst>
              <a:gd name="adj" fmla="val 1028"/>
            </a:avLst>
          </a:prstGeom>
          <a:solidFill>
            <a:srgbClr val="433550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649960"/>
            <a:ext cx="3148430" cy="1623814"/>
          </a:xfrm>
          <a:custGeom>
            <a:avLst/>
            <a:gdLst/>
            <a:ahLst/>
            <a:cxnLst/>
            <a:rect l="l" t="t" r="r" b="b"/>
            <a:pathLst>
              <a:path w="3148430" h="1623814">
                <a:moveTo>
                  <a:pt x="22889" y="0"/>
                </a:moveTo>
                <a:lnTo>
                  <a:pt x="3148430" y="0"/>
                </a:lnTo>
                <a:lnTo>
                  <a:pt x="3148430" y="1623814"/>
                </a:lnTo>
                <a:lnTo>
                  <a:pt x="0" y="1623814"/>
                </a:lnTo>
                <a:lnTo>
                  <a:pt x="0" y="22890"/>
                </a:lnTo>
                <a:arcTo wR="22889" hR="22890" stAng="10800000" swAng="5400000"/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9" name="Text 6"/>
          <p:cNvSpPr/>
          <p:nvPr/>
        </p:nvSpPr>
        <p:spPr>
          <a:xfrm>
            <a:off x="844529" y="3833019"/>
            <a:ext cx="27823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Design for Safety First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4529" y="4225429"/>
            <a:ext cx="278232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Embed constraints at the algorithm level, not as an afterthought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09905" y="3649960"/>
            <a:ext cx="3148430" cy="1623814"/>
          </a:xfrm>
          <a:custGeom>
            <a:avLst/>
            <a:gdLst/>
            <a:ahLst/>
            <a:cxnLst/>
            <a:rect l="l" t="t" r="r" b="b"/>
            <a:pathLst>
              <a:path w="3148430" h="1623814">
                <a:moveTo>
                  <a:pt x="0" y="0"/>
                </a:moveTo>
                <a:lnTo>
                  <a:pt x="3125541" y="0"/>
                </a:lnTo>
                <a:arcTo wR="22889" hR="22890" stAng="16200000" swAng="5400000"/>
                <a:lnTo>
                  <a:pt x="3148430" y="1623814"/>
                </a:lnTo>
                <a:lnTo>
                  <a:pt x="0" y="1623814"/>
                </a:lnTo>
                <a:lnTo>
                  <a:pt x="0" y="0"/>
                </a:lnTo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3649960"/>
            <a:ext cx="25399" cy="1623814"/>
          </a:xfrm>
          <a:prstGeom prst="roundRect">
            <a:avLst>
              <a:gd name="adj" fmla="val 50001"/>
            </a:avLst>
          </a:prstGeom>
          <a:solidFill>
            <a:srgbClr val="5C4E69"/>
          </a:solidFill>
          <a:ln/>
        </p:spPr>
      </p:sp>
      <p:sp>
        <p:nvSpPr>
          <p:cNvPr id="13" name="Text 10"/>
          <p:cNvSpPr/>
          <p:nvPr/>
        </p:nvSpPr>
        <p:spPr>
          <a:xfrm>
            <a:off x="3992959" y="3833019"/>
            <a:ext cx="27823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Verify Before Deploy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92959" y="4225429"/>
            <a:ext cx="27823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Formal methods and simulation testing are non-negotiable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1475" y="5273774"/>
            <a:ext cx="6296860" cy="1046956"/>
          </a:xfrm>
          <a:custGeom>
            <a:avLst/>
            <a:gdLst/>
            <a:ahLst/>
            <a:cxnLst/>
            <a:rect l="l" t="t" r="r" b="b"/>
            <a:pathLst>
              <a:path w="6296860" h="1046956">
                <a:moveTo>
                  <a:pt x="0" y="0"/>
                </a:moveTo>
                <a:lnTo>
                  <a:pt x="6296860" y="0"/>
                </a:lnTo>
                <a:lnTo>
                  <a:pt x="6296860" y="1024067"/>
                </a:lnTo>
                <a:arcTo wR="22889" hR="22890" stAng="0" swAng="5400000"/>
                <a:lnTo>
                  <a:pt x="22889" y="1046956"/>
                </a:lnTo>
                <a:arcTo wR="22889" hR="22890" stAng="5400000" swAng="5400000"/>
                <a:lnTo>
                  <a:pt x="0" y="0"/>
                </a:lnTo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5273774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C4E69"/>
          </a:solidFill>
          <a:ln/>
        </p:spPr>
      </p:sp>
      <p:sp>
        <p:nvSpPr>
          <p:cNvPr id="17" name="Text 14"/>
          <p:cNvSpPr/>
          <p:nvPr/>
        </p:nvSpPr>
        <p:spPr>
          <a:xfrm>
            <a:off x="844529" y="5456833"/>
            <a:ext cx="59307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Monitor Continuously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4529" y="5849243"/>
            <a:ext cx="593075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Runtime shielding ensures safety even when the AI is uncertain</a:t>
            </a:r>
            <a:endParaRPr lang="en-US" sz="1400" dirty="0"/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5E2E977A-5A6C-3DCF-6CFF-BD7E9AADAF36}"/>
              </a:ext>
            </a:extLst>
          </p:cNvPr>
          <p:cNvSpPr/>
          <p:nvPr/>
        </p:nvSpPr>
        <p:spPr>
          <a:xfrm>
            <a:off x="11043820" y="6370702"/>
            <a:ext cx="1148179" cy="421689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563</Words>
  <Application>Microsoft Office PowerPoint</Application>
  <PresentationFormat>شاشة عريضة</PresentationFormat>
  <Paragraphs>85</Paragraphs>
  <Slides>9</Slides>
  <Notes>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5" baseType="lpstr">
      <vt:lpstr>Calibri</vt:lpstr>
      <vt:lpstr>Fira Sans</vt:lpstr>
      <vt:lpstr>Arial</vt:lpstr>
      <vt:lpstr>Inconsolata Bold</vt:lpstr>
      <vt:lpstr>Fira Sans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lastModifiedBy>Elite</cp:lastModifiedBy>
  <cp:revision>3</cp:revision>
  <dcterms:created xsi:type="dcterms:W3CDTF">2026-09-04T19:47:19Z</dcterms:created>
  <dcterms:modified xsi:type="dcterms:W3CDTF">2026-09-05T12:15:30Z</dcterms:modified>
</cp:coreProperties>
</file>